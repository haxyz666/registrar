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9" r:id="rId3"/>
    <p:sldId id="256" r:id="rId4"/>
    <p:sldId id="287" r:id="rId5"/>
    <p:sldId id="257" r:id="rId6"/>
    <p:sldId id="259" r:id="rId7"/>
    <p:sldId id="263" r:id="rId8"/>
    <p:sldId id="264" r:id="rId9"/>
    <p:sldId id="265" r:id="rId10"/>
    <p:sldId id="266" r:id="rId11"/>
    <p:sldId id="267" r:id="rId12"/>
    <p:sldId id="284" r:id="rId13"/>
    <p:sldId id="268" r:id="rId14"/>
    <p:sldId id="269" r:id="rId15"/>
    <p:sldId id="270" r:id="rId16"/>
    <p:sldId id="271" r:id="rId17"/>
    <p:sldId id="273" r:id="rId18"/>
    <p:sldId id="272" r:id="rId19"/>
    <p:sldId id="279" r:id="rId20"/>
    <p:sldId id="274" r:id="rId21"/>
    <p:sldId id="285" r:id="rId22"/>
    <p:sldId id="276" r:id="rId23"/>
    <p:sldId id="275" r:id="rId24"/>
    <p:sldId id="277" r:id="rId25"/>
    <p:sldId id="278" r:id="rId26"/>
    <p:sldId id="280" r:id="rId27"/>
    <p:sldId id="281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421255" y="2063115"/>
            <a:ext cx="66103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十八组成果汇报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94045" y="4438650"/>
            <a:ext cx="3986530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汇报人：李超</a:t>
            </a:r>
            <a:r>
              <a:rPr lang="en-US" altLang="zh-CN"/>
              <a:t> </a:t>
            </a:r>
            <a:r>
              <a:rPr lang="zh-CN" altLang="en-US"/>
              <a:t>周代森</a:t>
            </a:r>
            <a:r>
              <a:rPr lang="en-US" altLang="zh-CN"/>
              <a:t> </a:t>
            </a:r>
            <a:r>
              <a:rPr lang="zh-CN" altLang="en-US"/>
              <a:t>李成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35" y="1328420"/>
            <a:ext cx="9674860" cy="539432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710565" y="429260"/>
            <a:ext cx="1769110" cy="3554095"/>
            <a:chOff x="1119" y="676"/>
            <a:chExt cx="2786" cy="5597"/>
          </a:xfrm>
        </p:grpSpPr>
        <p:grpSp>
          <p:nvGrpSpPr>
            <p:cNvPr id="8" name="组合 7"/>
            <p:cNvGrpSpPr/>
            <p:nvPr/>
          </p:nvGrpSpPr>
          <p:grpSpPr>
            <a:xfrm>
              <a:off x="1119" y="1426"/>
              <a:ext cx="2786" cy="4847"/>
              <a:chOff x="1119" y="1426"/>
              <a:chExt cx="2786" cy="484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119" y="2364"/>
                <a:ext cx="2786" cy="3909"/>
              </a:xfrm>
              <a:prstGeom prst="rect">
                <a:avLst/>
              </a:prstGeom>
              <a:noFill/>
              <a:ln w="22225">
                <a:solidFill>
                  <a:srgbClr val="CC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箭头连接符 6"/>
              <p:cNvCxnSpPr>
                <a:stCxn id="6" idx="0"/>
                <a:endCxn id="9" idx="2"/>
              </p:cNvCxnSpPr>
              <p:nvPr/>
            </p:nvCxnSpPr>
            <p:spPr>
              <a:xfrm flipV="1">
                <a:off x="2512" y="1426"/>
                <a:ext cx="157" cy="938"/>
              </a:xfrm>
              <a:prstGeom prst="straightConnector1">
                <a:avLst/>
              </a:prstGeom>
              <a:ln>
                <a:solidFill>
                  <a:srgbClr val="CC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1595" y="676"/>
              <a:ext cx="2147" cy="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rgbClr val="FF0000"/>
                  </a:solidFill>
                </a:rPr>
                <a:t>registrar</a:t>
              </a:r>
              <a:r>
                <a:rPr lang="zh-CN" altLang="en-US">
                  <a:solidFill>
                    <a:srgbClr val="FF0000"/>
                  </a:solidFill>
                </a:rPr>
                <a:t>类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660650" y="429260"/>
            <a:ext cx="2688254" cy="4854169"/>
            <a:chOff x="1119" y="676"/>
            <a:chExt cx="2768" cy="5465"/>
          </a:xfrm>
        </p:grpSpPr>
        <p:grpSp>
          <p:nvGrpSpPr>
            <p:cNvPr id="12" name="组合 11"/>
            <p:cNvGrpSpPr/>
            <p:nvPr/>
          </p:nvGrpSpPr>
          <p:grpSpPr>
            <a:xfrm>
              <a:off x="1119" y="1426"/>
              <a:ext cx="2768" cy="4715"/>
              <a:chOff x="1119" y="1426"/>
              <a:chExt cx="2768" cy="471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19" y="1622"/>
                <a:ext cx="2768" cy="4519"/>
              </a:xfrm>
              <a:prstGeom prst="rect">
                <a:avLst/>
              </a:prstGeom>
              <a:noFill/>
              <a:ln w="22225">
                <a:solidFill>
                  <a:srgbClr val="CC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" name="直接箭头连接符 13"/>
              <p:cNvCxnSpPr>
                <a:stCxn id="13" idx="0"/>
                <a:endCxn id="15" idx="2"/>
              </p:cNvCxnSpPr>
              <p:nvPr/>
            </p:nvCxnSpPr>
            <p:spPr>
              <a:xfrm flipV="1">
                <a:off x="2503" y="1426"/>
                <a:ext cx="165" cy="196"/>
              </a:xfrm>
              <a:prstGeom prst="straightConnector1">
                <a:avLst/>
              </a:prstGeom>
              <a:ln>
                <a:solidFill>
                  <a:srgbClr val="CC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/>
            <p:cNvSpPr txBox="1"/>
            <p:nvPr/>
          </p:nvSpPr>
          <p:spPr>
            <a:xfrm>
              <a:off x="1595" y="676"/>
              <a:ext cx="2147" cy="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rgbClr val="FF0000"/>
                  </a:solidFill>
                </a:rPr>
                <a:t>broker</a:t>
              </a:r>
              <a:r>
                <a:rPr lang="zh-CN" altLang="en-US">
                  <a:solidFill>
                    <a:srgbClr val="FF0000"/>
                  </a:solidFill>
                </a:rPr>
                <a:t>类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298473" y="618852"/>
            <a:ext cx="3584365" cy="4014760"/>
            <a:chOff x="1082" y="1233"/>
            <a:chExt cx="2887" cy="4588"/>
          </a:xfrm>
        </p:grpSpPr>
        <p:grpSp>
          <p:nvGrpSpPr>
            <p:cNvPr id="19" name="组合 18"/>
            <p:cNvGrpSpPr/>
            <p:nvPr/>
          </p:nvGrpSpPr>
          <p:grpSpPr>
            <a:xfrm>
              <a:off x="1082" y="1684"/>
              <a:ext cx="2804" cy="4137"/>
              <a:chOff x="1082" y="1684"/>
              <a:chExt cx="2804" cy="4137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082" y="2179"/>
                <a:ext cx="2804" cy="3642"/>
              </a:xfrm>
              <a:prstGeom prst="rect">
                <a:avLst/>
              </a:prstGeom>
              <a:noFill/>
              <a:ln w="22225">
                <a:solidFill>
                  <a:srgbClr val="CC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>
                <a:stCxn id="20" idx="0"/>
                <a:endCxn id="22" idx="2"/>
              </p:cNvCxnSpPr>
              <p:nvPr/>
            </p:nvCxnSpPr>
            <p:spPr>
              <a:xfrm flipV="1">
                <a:off x="2484" y="1684"/>
                <a:ext cx="42" cy="495"/>
              </a:xfrm>
              <a:prstGeom prst="straightConnector1">
                <a:avLst/>
              </a:prstGeom>
              <a:ln>
                <a:solidFill>
                  <a:srgbClr val="CC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/>
            <p:cNvSpPr txBox="1"/>
            <p:nvPr/>
          </p:nvSpPr>
          <p:spPr>
            <a:xfrm>
              <a:off x="1082" y="1233"/>
              <a:ext cx="2887" cy="4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rgbClr val="FF0000"/>
                  </a:solidFill>
                </a:rPr>
                <a:t>student,course,teacher,secretary</a:t>
              </a:r>
              <a:r>
                <a:rPr lang="zh-CN" altLang="en-US">
                  <a:solidFill>
                    <a:srgbClr val="FF0000"/>
                  </a:solidFill>
                </a:rPr>
                <a:t>类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5400000">
            <a:off x="3002061" y="4534048"/>
            <a:ext cx="1312277" cy="3157291"/>
            <a:chOff x="1119" y="676"/>
            <a:chExt cx="2623" cy="5596"/>
          </a:xfrm>
        </p:grpSpPr>
        <p:grpSp>
          <p:nvGrpSpPr>
            <p:cNvPr id="29" name="组合 28"/>
            <p:cNvGrpSpPr/>
            <p:nvPr/>
          </p:nvGrpSpPr>
          <p:grpSpPr>
            <a:xfrm>
              <a:off x="1119" y="1425"/>
              <a:ext cx="2300" cy="4847"/>
              <a:chOff x="1119" y="1425"/>
              <a:chExt cx="2300" cy="4847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1119" y="2683"/>
                <a:ext cx="2300" cy="3589"/>
              </a:xfrm>
              <a:prstGeom prst="rect">
                <a:avLst/>
              </a:prstGeom>
              <a:noFill/>
              <a:ln w="22225">
                <a:solidFill>
                  <a:srgbClr val="CC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1" name="直接箭头连接符 30"/>
              <p:cNvCxnSpPr>
                <a:stCxn id="30" idx="0"/>
                <a:endCxn id="32" idx="2"/>
              </p:cNvCxnSpPr>
              <p:nvPr/>
            </p:nvCxnSpPr>
            <p:spPr>
              <a:xfrm flipV="1">
                <a:off x="2270" y="1425"/>
                <a:ext cx="400" cy="1257"/>
              </a:xfrm>
              <a:prstGeom prst="straightConnector1">
                <a:avLst/>
              </a:prstGeom>
              <a:ln>
                <a:solidFill>
                  <a:srgbClr val="CC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/>
            <p:cNvSpPr txBox="1"/>
            <p:nvPr/>
          </p:nvSpPr>
          <p:spPr>
            <a:xfrm>
              <a:off x="1595" y="676"/>
              <a:ext cx="2147" cy="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rgbClr val="FF0000"/>
                  </a:solidFill>
                </a:rPr>
                <a:t>UI</a:t>
              </a:r>
              <a:r>
                <a:rPr lang="zh-CN" altLang="en-US">
                  <a:solidFill>
                    <a:srgbClr val="FF0000"/>
                  </a:solidFill>
                </a:rPr>
                <a:t>类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5400000">
            <a:off x="7148552" y="4293273"/>
            <a:ext cx="1655981" cy="3202427"/>
            <a:chOff x="432" y="596"/>
            <a:chExt cx="3310" cy="5676"/>
          </a:xfrm>
        </p:grpSpPr>
        <p:grpSp>
          <p:nvGrpSpPr>
            <p:cNvPr id="40" name="组合 39"/>
            <p:cNvGrpSpPr/>
            <p:nvPr/>
          </p:nvGrpSpPr>
          <p:grpSpPr>
            <a:xfrm>
              <a:off x="1119" y="1426"/>
              <a:ext cx="2300" cy="4846"/>
              <a:chOff x="1119" y="1426"/>
              <a:chExt cx="2300" cy="484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119" y="2683"/>
                <a:ext cx="2300" cy="3589"/>
              </a:xfrm>
              <a:prstGeom prst="rect">
                <a:avLst/>
              </a:prstGeom>
              <a:noFill/>
              <a:ln w="22225">
                <a:solidFill>
                  <a:srgbClr val="CC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2" name="直接箭头连接符 41"/>
              <p:cNvCxnSpPr>
                <a:stCxn id="41" idx="0"/>
                <a:endCxn id="43" idx="2"/>
              </p:cNvCxnSpPr>
              <p:nvPr/>
            </p:nvCxnSpPr>
            <p:spPr>
              <a:xfrm flipH="1" flipV="1">
                <a:off x="2087" y="1426"/>
                <a:ext cx="182" cy="1257"/>
              </a:xfrm>
              <a:prstGeom prst="straightConnector1">
                <a:avLst/>
              </a:prstGeom>
              <a:ln>
                <a:solidFill>
                  <a:srgbClr val="CC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3" name="文本框 42"/>
            <p:cNvSpPr txBox="1"/>
            <p:nvPr/>
          </p:nvSpPr>
          <p:spPr>
            <a:xfrm>
              <a:off x="432" y="596"/>
              <a:ext cx="3310" cy="8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数据管理类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99795" y="1520190"/>
            <a:ext cx="9650730" cy="41522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27505" y="2269490"/>
            <a:ext cx="8195945" cy="35134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UI 层: 负责用户交互，调用 Registrar 的业务方法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Broker 层: 业务逻辑层，管理实体对象，协调数据访问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Database 层: 数据持久化层，提供统一的数据库访问接口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190" y="298450"/>
            <a:ext cx="2305050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065780" y="2245360"/>
            <a:ext cx="5738495" cy="15367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UI</a:t>
            </a:r>
            <a:r>
              <a:rPr lang="zh-CN" alt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类，部分实现</a:t>
            </a:r>
            <a:endParaRPr lang="zh-CN" altLang="en-US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2445" y="1369695"/>
            <a:ext cx="1570990" cy="16078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682115" y="772160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65785" y="508635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33060" y="4455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演讲人：李成</a:t>
            </a:r>
            <a:r>
              <a:rPr lang="en-US" altLang="zh-CN">
                <a:solidFill>
                  <a:schemeClr val="accent1"/>
                </a:solidFill>
              </a:rPr>
              <a:t>2024051604016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实现效果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1715" y="977265"/>
            <a:ext cx="4175125" cy="18224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" y="3973195"/>
            <a:ext cx="3683000" cy="19399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490" y="4057015"/>
            <a:ext cx="3435350" cy="163004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355" y="3973195"/>
            <a:ext cx="3494405" cy="1713865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 flipV="1">
            <a:off x="2621915" y="2856865"/>
            <a:ext cx="3027680" cy="1143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5649595" y="2945765"/>
            <a:ext cx="313055" cy="1181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8" idx="0"/>
            <a:endCxn id="15" idx="2"/>
          </p:cNvCxnSpPr>
          <p:nvPr/>
        </p:nvCxnSpPr>
        <p:spPr>
          <a:xfrm flipH="1" flipV="1">
            <a:off x="5649595" y="2799715"/>
            <a:ext cx="4526280" cy="1173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2200" y="121920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输入验证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870" y="1283970"/>
            <a:ext cx="6638925" cy="7524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870" y="2230120"/>
            <a:ext cx="5982970" cy="370395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051560" y="2537460"/>
            <a:ext cx="20580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r>
              <a:rPr lang="en-US" altLang="zh-CN"/>
              <a:t>ID</a:t>
            </a:r>
            <a:r>
              <a:rPr lang="zh-CN" altLang="en-US"/>
              <a:t>通过查找数据库里有没有，有就可以登陆成功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2200" y="121920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用户显示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675" y="1374775"/>
            <a:ext cx="6353175" cy="438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695" y="2687320"/>
            <a:ext cx="8020050" cy="2019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4995" y="2690495"/>
            <a:ext cx="2018665" cy="187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会话状态跟踪: currentUserType 和 currentUserId 维护当前登录用户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9130" y="1219200"/>
            <a:ext cx="2252980" cy="7321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各种输入提示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30" y="3274060"/>
            <a:ext cx="4219575" cy="35058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30" y="1877695"/>
            <a:ext cx="5977255" cy="49022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2645" y="2414270"/>
            <a:ext cx="3763010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用户反馈: showMessage() 和 showError() 提供操作反馈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645" y="1219200"/>
            <a:ext cx="2060575" cy="5835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学生退课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7790" y="2132330"/>
            <a:ext cx="772414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2645" y="1219200"/>
            <a:ext cx="2060575" cy="5835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取消排课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045" y="1520825"/>
            <a:ext cx="829691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UI 类技术总结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4815" y="2833370"/>
            <a:ext cx="6151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全局唯一实例: UI::singleton() 确保整个系统只有一个 UI 实例</a:t>
            </a:r>
            <a:endParaRPr lang="zh-CN" altLang="en-US"/>
          </a:p>
          <a:p>
            <a:r>
              <a:rPr lang="zh-CN" altLang="en-US"/>
              <a:t>输入验证: getMenuChoice() 确保输入在有效范围内</a:t>
            </a:r>
            <a:endParaRPr lang="zh-CN" altLang="en-US"/>
          </a:p>
          <a:p>
            <a:r>
              <a:rPr lang="zh-CN" altLang="en-US"/>
              <a:t> 错误处理: 清除错误状态，防止无限循环</a:t>
            </a:r>
            <a:endParaRPr lang="zh-CN" altLang="en-US"/>
          </a:p>
          <a:p>
            <a:r>
              <a:rPr lang="zh-CN" altLang="en-US"/>
              <a:t> 用户反馈: showMessage() 和 showError() 提供操作反馈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065780" y="2245360"/>
            <a:ext cx="5738495" cy="15367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secretary</a:t>
            </a:r>
            <a:r>
              <a:rPr lang="zh-CN" alt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类，</a:t>
            </a:r>
            <a:endParaRPr lang="zh-CN" altLang="en-US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ctr"/>
            <a:r>
              <a:rPr lang="zh-CN" alt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简单工厂模式</a:t>
            </a:r>
            <a:endParaRPr lang="zh-CN" altLang="en-US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2445" y="1369695"/>
            <a:ext cx="1570990" cy="16078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682115" y="772160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65785" y="508635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33060" y="4455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演讲人：李超</a:t>
            </a:r>
            <a:r>
              <a:rPr lang="en-US" altLang="zh-CN">
                <a:solidFill>
                  <a:schemeClr val="accent1"/>
                </a:solidFill>
              </a:rPr>
              <a:t>2024051604024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8970" y="1219200"/>
            <a:ext cx="2254250" cy="6292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排课秘书的功能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1385" y="2874645"/>
            <a:ext cx="5671820" cy="2781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8491" t="17067"/>
          <a:stretch>
            <a:fillRect/>
          </a:stretch>
        </p:blipFill>
        <p:spPr>
          <a:xfrm>
            <a:off x="118110" y="2600960"/>
            <a:ext cx="5666740" cy="3329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时间冲突检查功能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880" y="2343785"/>
            <a:ext cx="9100820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地点冲突检查功能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80" y="2343785"/>
            <a:ext cx="10642600" cy="3065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Broker</a:t>
            </a:r>
            <a:endParaRPr lang="en-US" altLang="zh-CN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7990" y="666115"/>
            <a:ext cx="4455795" cy="59848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33120" y="2690495"/>
            <a:ext cx="1695450" cy="294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继承与多态: 继承自 IBroker 基类，实现 initialize() 虚函数</a:t>
            </a:r>
            <a:endParaRPr lang="zh-CN" altLang="en-US"/>
          </a:p>
          <a:p>
            <a:r>
              <a:rPr lang="zh-CN" altLang="en-US"/>
              <a:t> 单一职责原则: 每个 Broker 只负责管理一种类型的实体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创建工厂模式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4110" y="1283970"/>
            <a:ext cx="7643495" cy="1425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110" y="2868295"/>
            <a:ext cx="7877810" cy="2981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2645" y="2519045"/>
            <a:ext cx="2257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代管者模式: 每个角色有独立的 Broker 类，负责管理该角色的所有业务逻辑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5020" y="4023995"/>
            <a:ext cx="2439670" cy="1663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shared</a:t>
            </a:r>
            <a:r>
              <a:rPr lang="zh-CN" altLang="en-US"/>
              <a:t>指针运用：</a:t>
            </a:r>
            <a:endParaRPr lang="zh-CN" altLang="en-US"/>
          </a:p>
          <a:p>
            <a:r>
              <a:rPr lang="zh-CN" altLang="en-US"/>
              <a:t>自动内存管理当最后一个 shared_ptr 被销毁时，对象自动释放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共享所有权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74445"/>
            <a:ext cx="3738245" cy="6832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2797810" cy="618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registrar</a:t>
            </a:r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功能交给</a:t>
            </a:r>
            <a:r>
              <a:rPr lang="en-US" altLang="zh-CN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broker</a:t>
            </a:r>
            <a:endParaRPr lang="en-US" altLang="zh-CN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2566035"/>
            <a:ext cx="8716645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8970" y="1274445"/>
            <a:ext cx="3738245" cy="6832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10615" y="1283970"/>
            <a:ext cx="2797810" cy="6184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broker</a:t>
            </a:r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从数据库读取失败，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使用默认数据</a:t>
            </a:r>
            <a:endParaRPr lang="en-US" altLang="zh-CN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795" y="2858135"/>
            <a:ext cx="6629400" cy="2952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Broker 技术总结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2414270"/>
            <a:ext cx="6256655" cy="1289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代管者模式: 每个角色有独立的 Broker类，负责管理该角色的所有业务逻辑</a:t>
            </a:r>
            <a:endParaRPr lang="zh-CN" altLang="en-US"/>
          </a:p>
          <a:p>
            <a:r>
              <a:rPr lang="zh-CN" altLang="en-US"/>
              <a:t>继承与多态: 继承自 IBroker 基类，实现 initialize() 虚函数</a:t>
            </a:r>
            <a:endParaRPr lang="zh-CN" altLang="en-US"/>
          </a:p>
          <a:p>
            <a:r>
              <a:rPr lang="zh-CN" altLang="en-US"/>
              <a:t>单一职责原则: 每个 Broker 只负责管理一种类型的实体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065780" y="2245360"/>
            <a:ext cx="5738495" cy="15367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teacher</a:t>
            </a:r>
            <a:r>
              <a:rPr lang="zh-CN" alt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类，</a:t>
            </a:r>
            <a:endParaRPr lang="zh-CN" altLang="en-US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ctr"/>
            <a:r>
              <a:rPr lang="zh-CN" alt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数据库连接</a:t>
            </a:r>
            <a:endParaRPr lang="zh-CN" altLang="en-US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2445" y="1369695"/>
            <a:ext cx="1570990" cy="16078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682115" y="772160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65785" y="508635"/>
            <a:ext cx="1116330" cy="69659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33060" y="4455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演讲人：周代森</a:t>
            </a:r>
            <a:r>
              <a:rPr lang="en-US" altLang="zh-CN">
                <a:solidFill>
                  <a:schemeClr val="accent1"/>
                </a:solidFill>
              </a:rPr>
              <a:t>2024051604019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2501900"/>
            <a:ext cx="5779135" cy="30676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teacher</a:t>
            </a:r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类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3018790"/>
            <a:ext cx="4844415" cy="2298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数据管理类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25" y="1201420"/>
            <a:ext cx="6363335" cy="5570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0745" y="3429000"/>
            <a:ext cx="2381250" cy="1075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 重试机制: 最多 3 次重试，指数退避策略（2s, 4s, 6s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数据库连接操作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7970" y="1219200"/>
            <a:ext cx="6153785" cy="5043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" y="4791075"/>
            <a:ext cx="492506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建表操作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720" y="620395"/>
            <a:ext cx="4996180" cy="6101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635885"/>
            <a:ext cx="5292725" cy="40671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110" y="2019935"/>
            <a:ext cx="5912485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表结构设计: 学生、教师、教学秘书、课程、选课、成绩、授课、排课等表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118110" y="72390"/>
            <a:ext cx="1478915" cy="593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3"/>
          </p:cNvCxnSpPr>
          <p:nvPr/>
        </p:nvCxnSpPr>
        <p:spPr>
          <a:xfrm>
            <a:off x="1597025" y="369570"/>
            <a:ext cx="9388475" cy="4445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579245" y="620395"/>
            <a:ext cx="7040880" cy="889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8110" y="178435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关键技术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8970" y="1219200"/>
            <a:ext cx="2585720" cy="683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10615" y="1283970"/>
            <a:ext cx="1503045" cy="4419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Database 技术总结</a:t>
            </a:r>
            <a:endParaRPr lang="zh-CN" altLang="en-US" sz="24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2610" y="2452370"/>
            <a:ext cx="5952490" cy="199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重试机制: 最多 3 次重试，指数退避策略（2s, 4s, 6s）</a:t>
            </a:r>
            <a:endParaRPr lang="zh-CN" altLang="en-US"/>
          </a:p>
          <a:p>
            <a:r>
              <a:rPr lang="zh-CN" altLang="en-US"/>
              <a:t>表结构设计:学生、教师、教学秘书、课程、选课、成绩、授课、排课等表</a:t>
            </a:r>
            <a:endParaRPr lang="zh-CN" altLang="en-US"/>
          </a:p>
          <a:p>
            <a:r>
              <a:rPr lang="zh-CN" altLang="en-US"/>
              <a:t>通用查询接口: executeQuery() 执行无返回操作</a:t>
            </a:r>
            <a:endParaRPr lang="zh-CN" altLang="en-US"/>
          </a:p>
          <a:p>
            <a:r>
              <a:rPr lang="zh-CN" altLang="en-US"/>
              <a:t>表自动创建: initializeTables() 检查并创建所有表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WPS 演示</Application>
  <PresentationFormat>宽屏</PresentationFormat>
  <Paragraphs>149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方正书宋_GBK</vt:lpstr>
      <vt:lpstr>Calibri</vt:lpstr>
      <vt:lpstr>微软雅黑</vt:lpstr>
      <vt:lpstr>宋体</vt:lpstr>
      <vt:lpstr>Arial Unicode MS</vt:lpstr>
      <vt:lpstr>Calibri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root</cp:lastModifiedBy>
  <cp:revision>6</cp:revision>
  <dcterms:created xsi:type="dcterms:W3CDTF">2026-01-19T10:55:42Z</dcterms:created>
  <dcterms:modified xsi:type="dcterms:W3CDTF">2026-01-19T10:55:42Z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D950223665C0D161E1B26D6913A06970_41</vt:lpwstr>
  </property>
</Properties>
</file>